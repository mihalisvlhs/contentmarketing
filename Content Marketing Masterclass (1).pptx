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39.xml" ContentType="application/vnd.openxmlformats-officedocument.presentationml.slide+xml"/>
  <ns0:Override PartName="/ppt/slides/slide4.xml" ContentType="application/vnd.openxmlformats-officedocument.presentationml.slide+xml"/>
  <ns0:Override PartName="/ppt/slides/slide40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  <ns0:sldId id="288" ns1:id="rId39"/>
    <ns0:sldId id="289" ns1:id="rId40"/>
    <ns0:sldId id="290" ns1:id="rId41"/>
    <ns0:sldId id="291" ns1:id="rId42"/>
    <ns0:sldId id="292" ns1:id="rId43"/>
    <ns0:sldId id="293" ns1:id="rId44"/>
    <ns0:sldId id="294" ns1:id="rId45"/>
    <ns0:sldId id="295" ns1:id="rId46"/>
  </ns0:sldIdLst>
  <ns0:sldSz cx="12192000" cy="6858000" type="screen4x3"/>
  <ns0:notesSz cx="6858000" cy="9144000"/>
  <ns0:embeddedFontLst>
    <ns0:embeddedFont>
      <ns0:font typeface="Inter"/>
      <ns0:bold ns1:id="rIdFont47"/>
      <ns0:regular ns1:id="rIdFont48"/>
    </ns0:embeddedFont>
    <ns0:embeddedFont>
      <ns0:font typeface="Plus Jakarta Sans"/>
      <ns0:bold ns1:id="rIdFont4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38" Type="http://schemas.openxmlformats.org/officeDocument/2006/relationships/slide" Target="slides/slide32.xml" /><ns0:Relationship Id="rId39" Type="http://schemas.openxmlformats.org/officeDocument/2006/relationships/slide" Target="slides/slide33.xml" /><ns0:Relationship Id="rId40" Type="http://schemas.openxmlformats.org/officeDocument/2006/relationships/slide" Target="slides/slide34.xml" /><ns0:Relationship Id="rId41" Type="http://schemas.openxmlformats.org/officeDocument/2006/relationships/slide" Target="slides/slide35.xml" /><ns0:Relationship Id="rId42" Type="http://schemas.openxmlformats.org/officeDocument/2006/relationships/slide" Target="slides/slide36.xml" /><ns0:Relationship Id="rId43" Type="http://schemas.openxmlformats.org/officeDocument/2006/relationships/slide" Target="slides/slide37.xml" /><ns0:Relationship Id="rId44" Type="http://schemas.openxmlformats.org/officeDocument/2006/relationships/slide" Target="slides/slide38.xml" /><ns0:Relationship Id="rId45" Type="http://schemas.openxmlformats.org/officeDocument/2006/relationships/slide" Target="slides/slide39.xml" /><ns0:Relationship Id="rId46" Type="http://schemas.openxmlformats.org/officeDocument/2006/relationships/slide" Target="slides/slide40.xml" /><ns0:Relationship Id="rIdFont47" Type="http://schemas.openxmlformats.org/officeDocument/2006/relationships/font" Target="fonts/deaa1bfb-c517-4256-b090-943714f943e5.fntdata" /><ns0:Relationship Id="rIdFont48" Type="http://schemas.openxmlformats.org/officeDocument/2006/relationships/font" Target="fonts/33ede8bc-7793-472a-80f5-9b1baf36c0c9.fntdata" /><ns0:Relationship Id="rIdFont49" Type="http://schemas.openxmlformats.org/officeDocument/2006/relationships/font" Target="fonts/6ed6cfc4-81fa-4125-b5dc-c3f2ae9a574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791967"/>
            <a:ext cx="6858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27932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ΣΕΜΙΝΑΡΙΟ ΨΗΦΙΑΚΟΥ ΜΑΡΚΕΤΙΝΓΚ • 4 ΩΡΕΣ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70832"/>
            <a:ext cx="9301162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Plus Jakarta Sans"/>
              </a:rPr>
              <a:t>Μάρκετινγκ Περιεχομένου:</a:t>
            </a:r>
            <a:r>
              <a:t>
</a:t>
            </a:r>
            <a:r>
              <a:rPr b="1" sz="4050" i="0" u="none">
                <a:solidFill>
                  <a:srgbClr val="FFFFFF"/>
                </a:solidFill>
                <a:latin typeface="Plus Jakarta Sans"/>
              </a:rPr>
              <a:t> Από τη Θεωρία στην Πράξη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82317"/>
            <a:ext cx="7334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Ορισμοί, διαφορές με την κλασική διαφήμιση, μορφές, εργαλεία, στρατηγικές και προώθηση στα κοινωνικά δίκτυα.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678459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ΕΝΟΤΗΤΑ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83259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Τι είναι το Μάρκετινγκ Περιεχομένου;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722340"/>
            <a:ext cx="6572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Ορισμός, θεμελιώδεις αρχές, ιστορικές ρίζες και οι βασικοί στρατηγικοί στόχοι μιας σύγχρονης επιχείρησης.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714750"/>
            <a:ext cx="3505200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714750"/>
            <a:ext cx="3505200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714750"/>
            <a:ext cx="3505200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98145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981450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981450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ΕΝΝΟΙΟΛΟΓΙΚΟ ΠΛΑΙΣΙΟ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Ορισμός: Content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19250"/>
            <a:ext cx="10458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1E40AF"/>
                </a:solidFill>
                <a:latin typeface="Inter"/>
              </a:rPr>
              <a:t>Η στρατηγική δημιουργίας και διανομής πολύτιμου, σχετικού και συνεπούς περιεχομένου για την προσέλκυση και διατήρηση ενός ξεκάθαρου κοινού.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381500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Πραγματική Αξία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70535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Εκπαίδευση, επίλυση προβλημάτων, ψυχαγωγία.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4381500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Άμεση Συνάφεια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470535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Απόλυτη ταύτιση με τις ανάγκες του κοινού.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381500"/>
            <a:ext cx="38481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Συνέπεια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470535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Μακροπρόθεσμη σχέση εμπιστοσύνης.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3725"/>
            <a:ext cx="3530649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133725"/>
            <a:ext cx="3530649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28962"/>
            <a:ext cx="3530649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ΙΣΤΟΡΙΚΗ ΑΝΑΔΡΟΜΗ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Πότε και Πώς Ξεκίνησε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00425"/>
            <a:ext cx="37465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1895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752850"/>
            <a:ext cx="39338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The Furrow (John Deere)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067175"/>
            <a:ext cx="30924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Περιοδικό αγροτικών συμβουλών χωρίς άμεση πώληση.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49" y="3400425"/>
            <a:ext cx="37465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1900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49" y="3752850"/>
            <a:ext cx="39338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Michelin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449" y="4067175"/>
            <a:ext cx="30924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Ταξιδιωτικοί οδηγοί για αύξηση φθοράς ελαστικών.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599" y="3395662"/>
            <a:ext cx="37465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2000+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8599" y="3748087"/>
            <a:ext cx="3873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Ψηφιακή Έκρηξη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8599" y="4071937"/>
            <a:ext cx="30924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Blogs, μηχανές αναζήτησης και social media.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8487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33725"/>
            <a:ext cx="2600325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38487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38487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3367087"/>
            <a:ext cx="2286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087" y="3362325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962" y="3367087"/>
            <a:ext cx="3429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737" y="3367087"/>
            <a:ext cx="3810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ΣΚΟΠΟΣ &amp; ΑΠΟΤΕΛΕΣΜΑΤΑ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Πού Στοχεύει το Περιεχόμενο;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336" y="3786187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Brand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309" y="4100512"/>
            <a:ext cx="267890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Καθιέρωση ως ειδικός κλάδου.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4161" y="3781425"/>
            <a:ext cx="281285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Οργανικό Κοινό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1134" y="4105275"/>
            <a:ext cx="267890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Σταθερή ροή χωρίς κόστος ανά κλικ.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4986" y="3786187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Lead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1959" y="4100512"/>
            <a:ext cx="267890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Συλλογή στοιχείων υποψήφιων αγοραστών.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5811" y="3786187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Customer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784" y="4100512"/>
            <a:ext cx="267890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Διατήρηση πελατών μετά την πώληση.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678459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ΕΝΟΤΗΤΑ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83259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Διαφορές με την Κλασική Διαφήμιση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722340"/>
            <a:ext cx="6572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Push vs. Pull, Interruption vs. Permission marketing, και επεξήγηση βασικών όρων στα ελληνικά.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7975"/>
            <a:ext cx="5334000" cy="2085975"/>
          </a:xfrm>
          <a:prstGeom prst="roundRect">
            <a:avLst>
              <a:gd name="adj" fmla="val 5479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47987"/>
            <a:ext cx="5334000" cy="1885950"/>
          </a:xfrm>
          <a:prstGeom prst="roundRect">
            <a:avLst>
              <a:gd name="adj" fmla="val 606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ΜΟΝΤΕΛΑ ΠΡΟΣΕΓΓΙΣΗΣ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Push vs. Pull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2775"/>
            <a:ext cx="62007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B91C1C"/>
                </a:solidFill>
                <a:latin typeface="Plus Jakarta Sans"/>
              </a:rPr>
              <a:t>Push Marketing (Ώθηση)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00450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Μέθοδος: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Επιβολή μηνύματος στο κοινό.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4775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Χαρακτήρας: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Διακοπτική προβολή (τηλεόραση, pop-ups).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29125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Στόχος: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Άμεση πώληση μέσω επανάληψης.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252787"/>
            <a:ext cx="56388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5803D"/>
                </a:solidFill>
                <a:latin typeface="Plus Jakarta Sans"/>
              </a:rPr>
              <a:t>Pull Marketing (Έλξη)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700462"/>
            <a:ext cx="5638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Μέθοδος: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Προσέλκυση μέσω αναζήτησης λύσης.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014787"/>
            <a:ext cx="5638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Χαρακτήρας: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Επιθυμητό και χρήσιμο περιεχόμενο.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329112"/>
            <a:ext cx="5638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Στόχος: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Χτίσιμο σχέσης εμπιστοσύνης.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667000"/>
          <a:ext cx="10972798" cy="23812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73101"/>
                <a:gridCol w="4073872"/>
                <a:gridCol w="4225825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Χαρακτηριστικό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91C1C"/>
                          </a:solidFill>
                          <a:latin typeface="Inter"/>
                        </a:rPr>
                        <a:t>Κλασική Διαφήμιση (Traditional)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5803D"/>
                          </a:solidFill>
                          <a:latin typeface="Inter"/>
                        </a:rPr>
                        <a:t>Content Marketing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Προσέγγιση Κοινού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Interruption (Διακοπή ροής)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Permission (Συναίνεση χρήστη)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Διάρκεια Αξίας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Σταματά μόλις λήξει το budget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Evergreen (Διαρκής οργανική αξία)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Επίκεντρο Μηνύματος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Το προϊόν και τα χαρακτηριστικά του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Το πρόβλημα και η λύση του πελάτη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Αντίδραση Κοινού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Συχνά Ad-blocker ή παράβλεψη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Αναζήτηση, αποθήκευση, κοινοποίηση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ΣΥΓΚΡΙΤΙΚΗ ΑΝΑΛΥΣΗ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Κλασική Διαφήμιση vs. Content Marketing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6112"/>
            <a:ext cx="3530649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186112"/>
            <a:ext cx="3530649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86112"/>
            <a:ext cx="3530649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ΓΛΩΣΣΑΡΙ ΟΡΩΝ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Βασικοί Αγγλικοί Όροι &amp; Ελληνική Ερμηνεία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14712"/>
            <a:ext cx="403390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Inbound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19512"/>
            <a:ext cx="3841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Εισερχόμενο Μάρκετινγκ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9766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Ο πελάτης σας βρίσκει μόνος του μέσω αναζήτησης.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9349" y="3414712"/>
            <a:ext cx="403390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Outbound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9349" y="3719512"/>
            <a:ext cx="3841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Εξερχόμενο Μάρκετινγκ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349" y="39766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Μαζική αποστολή μηνυμάτων προς τα έξω.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499" y="3414712"/>
            <a:ext cx="3911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Lead Magnet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99" y="3719512"/>
            <a:ext cx="3841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Μαγνήτης Υποψηφίων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39766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Δωρεάν υλικό με αντάλλαγμα το email του χρήστη.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678459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ΕΝΟΤΗΤΑ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83259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Μορφές Περιεχομένου &amp; Παραδείγματα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722340"/>
            <a:ext cx="6572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Από άρθρα blog και βίντεο έως infographics, ebooks, social media και podcasts.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0375"/>
            <a:ext cx="5334000" cy="179070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00362"/>
            <a:ext cx="5334000" cy="1990725"/>
          </a:xfrm>
          <a:prstGeom prst="roundRect">
            <a:avLst>
              <a:gd name="adj" fmla="val 574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ΜΟΡΦΗ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Blog vs. Στατική Σελίδα Ιστοτόπου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05175"/>
            <a:ext cx="62007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Στατική Σελίδα (π.χ. «Σχετικά με εμάς»)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95700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Περιεχόμενο που σπάνια μεταβάλλεται.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90975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Παρέχει βασικές πληροφορίες για την εταιρεία.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6250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Περιορισμένη συμβολή στο καθημερινό SEO.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205162"/>
            <a:ext cx="56388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40AF"/>
                </a:solidFill>
                <a:latin typeface="Plus Jakarta Sans"/>
              </a:rPr>
              <a:t>Ιστολόγιο (Blog)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595687"/>
            <a:ext cx="5638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Δυναμική ροή νέων άρθρων και αναλύσεων.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890962"/>
            <a:ext cx="5638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Στοχεύει σε ερωτήματα που ψάχνει ο χρήστης.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186237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Συνεχής ανανέωση και ενίσχυση οργανικής κατάταξης.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67450" y="2805112"/>
            <a:ext cx="5314950" cy="1076325"/>
          </a:xfrm>
          <a:prstGeom prst="roundRect">
            <a:avLst>
              <a:gd name="adj" fmla="val 88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4033837"/>
            <a:ext cx="5314950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47875"/>
            <a:ext cx="531495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ΜΟΡΦΗ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Video Marketing: Ο Βασιλιάς του 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7950" y="2995612"/>
            <a:ext cx="57340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Short-Form Video (TikTok, Reels, Shorts)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7950" y="3290887"/>
            <a:ext cx="5029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Γρήγορες συμβουλές 30-60 δευτερολέπτων για άμεση απήχηση.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4224337"/>
            <a:ext cx="57340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Long-Form Video (YouTube, Webinars)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7950" y="4519612"/>
            <a:ext cx="57340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Σε βάθος εκπαιδευτικό υλικό και επίδειξη προϊόντος.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7525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57525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57525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24225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2422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324225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ΜΟΡΦΗ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Infographics (Γραφήματα Πληροφοριών)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43325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Τι είναι ακριβώς;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6717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Οπτική απεικόνιση δεδομένων και στατιστικών στοιχείων.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743325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Υψηλή Κοινοποίηση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06717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3x περισσότερες κοινοποιήσεις από απλό κείμενο.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743325"/>
            <a:ext cx="38481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Μαγνήτης Backlinks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06717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Άλλοι ιστότοποι παραθέτουν το γράφημα με link.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4293" y="2362200"/>
            <a:ext cx="5568106" cy="1085850"/>
          </a:xfrm>
          <a:prstGeom prst="roundRect">
            <a:avLst>
              <a:gd name="adj" fmla="val 877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14293" y="3600450"/>
            <a:ext cx="5568106" cy="800100"/>
          </a:xfrm>
          <a:prstGeom prst="roundRect">
            <a:avLst>
              <a:gd name="adj" fmla="val 119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14293" y="4552950"/>
            <a:ext cx="5568106" cy="800100"/>
          </a:xfrm>
          <a:prstGeom prst="roundRect">
            <a:avLst>
              <a:gd name="adj" fmla="val 119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47875"/>
            <a:ext cx="5061793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47875"/>
            <a:ext cx="5061793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ΠΡΑΚΤΙΚΟ ΠΑΡΑΔΕΙΓΜΑ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Παράδειγμα Infographic στην Πράξη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4793" y="2552700"/>
            <a:ext cx="59872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40AF"/>
                </a:solidFill>
                <a:latin typeface="Plus Jakarta Sans"/>
              </a:rPr>
              <a:t>Πραγματικό Σενάριο (π.χ. «Ο Κύκλος Ζωής του Καφέ»)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4793" y="2857500"/>
            <a:ext cx="528235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Από τη συγκομιδή στο φλιτζάνι με εικονογραφημένα βήματα και ποσοστά.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743" y="3771900"/>
            <a:ext cx="6006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Ελκυστικός Τίτλος &amp; 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743" y="4038600"/>
            <a:ext cx="60062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Τραβάει το βλέμμα στα πρώτα 2 δευτερόλεπτα.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743" y="4724400"/>
            <a:ext cx="60062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Οπτική Αφήγηση Δεδομένων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743" y="4991100"/>
            <a:ext cx="60062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Γραφήματα, εικονίδια και χρώματα αντί για βαριά κείμενα.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76350"/>
            <a:ext cx="5372100" cy="1409700"/>
          </a:xfrm>
          <a:prstGeom prst="roundRect">
            <a:avLst>
              <a:gd name="adj" fmla="val 810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276350"/>
            <a:ext cx="53721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876550"/>
            <a:ext cx="5372100" cy="102870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876550"/>
            <a:ext cx="5372100" cy="1028700"/>
          </a:xfrm>
          <a:prstGeom prst="roundRect">
            <a:avLst>
              <a:gd name="adj" fmla="val 11111"/>
            </a:avLst>
          </a:prstGeom>
          <a:solidFill>
            <a:srgbClr val="FEF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ΜΟΡΦΗ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eBooks &amp; Whitepapers (Οδηγοί σε Βάθος)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504950"/>
            <a:ext cx="64508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40AF"/>
                </a:solidFill>
                <a:latin typeface="Plus Jakarta Sans"/>
              </a:rPr>
              <a:t>eBook (Ηλεκτρονικό Βιβλίο)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828800"/>
            <a:ext cx="5010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 Ολοκληρωμένος οδηγός 15-30 σελίδων με πρακτικές συμβουλές.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266950"/>
            <a:ext cx="6143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 Ιδανικό για συλλογή emails (Lead Generation).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1504950"/>
            <a:ext cx="57531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Whitepaper (Τεχνική Έκθεση)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1828800"/>
            <a:ext cx="5010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 Επίσημη ανάλυση βασισμένη σε πρωτογενή έρευνα &amp; στατιστικά.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2266950"/>
            <a:ext cx="57531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 Αποδεικνύει τεχνογνωσία και αυθεντία κλάδου.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067050"/>
            <a:ext cx="64508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Plus Jakarta Sans"/>
              </a:rPr>
              <a:t>Τι είναι το B2B (Business-to-Business);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333750"/>
            <a:ext cx="5010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Επιχειρήσεις που πουλούν προϊόντα ή υπηρεσίες σε άλλες επιχειρήσεις (και όχι στον απλό τελικό καταναλωτή B2C).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067050"/>
            <a:ext cx="5753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A16207"/>
                </a:solidFill>
                <a:latin typeface="Plus Jakarta Sans"/>
              </a:rPr>
              <a:t>Τι είναι οι Decision Makers (Λήπτες Αποφάσεων);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333750"/>
            <a:ext cx="5010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Τα ανώτερα διοικητικά στελέχη (π.χ. CEOs, Διευθυντές) που έχουν την εξουσία και τον προϋπολογισμό να εγκρίνουν μία αγορά.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24175"/>
            <a:ext cx="10972800" cy="990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14450"/>
            <a:ext cx="3530649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1314450"/>
            <a:ext cx="3530649" cy="1419225"/>
          </a:xfrm>
          <a:prstGeom prst="roundRect">
            <a:avLst>
              <a:gd name="adj" fmla="val 8053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1314450"/>
            <a:ext cx="3530649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924175"/>
            <a:ext cx="38100" cy="990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524000"/>
            <a:ext cx="2762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299" y="1524000"/>
            <a:ext cx="21907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449" y="1524000"/>
            <a:ext cx="2476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ΜΟΡΦΗ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Δημοσιεύσεις στα Κοινωνικά Δίκτυα (Social Posts)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095625"/>
            <a:ext cx="11315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Τι είναι ακριβώς οι «Σκέψεις» (Text Threads) στο X και στο Threads;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362325"/>
            <a:ext cx="10572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Είναι η ανάρτηση συμπυκνωμένων απόψεων, εμπειριών ή μαθημάτων ζωής και δουλειάς (microblogging) με καθαρό κείμενο, χωρίς απαραίτητα γραφικά, που προκαλεί συζήτηση και αναδημοσιεύσεις.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1847850"/>
            <a:ext cx="408390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Carousels (Slides)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2133600"/>
            <a:ext cx="320679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Σειρά εικόνων στο Instagram/LinkedIn με βήματα και οδηγούς.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0299" y="1847850"/>
            <a:ext cx="408390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40AF"/>
                </a:solidFill>
                <a:latin typeface="Plus Jakarta Sans"/>
              </a:rPr>
              <a:t>Σκέψεις &amp; Text Threads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0299" y="2143125"/>
            <a:ext cx="320679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Σύντομες αναλύσεις κειμένου σε σειρές μηνυμάτων στο X ή Threads.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449" y="1847850"/>
            <a:ext cx="39305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Stories (24h)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449" y="2133600"/>
            <a:ext cx="320679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Αυθόρμητα παρασκήνια και άμεσες ψηφοφορίες με το κοινό.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8487"/>
            <a:ext cx="3530649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138487"/>
            <a:ext cx="3530649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38487"/>
            <a:ext cx="3530649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67087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49" y="3367087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99" y="3367087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ΜΟΡΦΗ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Δημοσιεύσεις στα Κοινωνικά Δίκτυα (Social Posts)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729037"/>
            <a:ext cx="403390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Carousels (Slides)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024312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Σειρά εικόνων στο Instagram/LinkedIn με βήματα.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349" y="3729037"/>
            <a:ext cx="403390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Text Threads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349" y="4024312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Σύντομα αποφθέγματα και σκέψεις στο X ή Threads.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99" y="3729037"/>
            <a:ext cx="3911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Stories (24h)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4024312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Αυθόρμητα παρασκήνια και άμεσες ψηφοφορίες.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7500"/>
            <a:ext cx="5314950" cy="923925"/>
          </a:xfrm>
          <a:prstGeom prst="roundRect">
            <a:avLst>
              <a:gd name="adj" fmla="val 10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33825"/>
            <a:ext cx="5314950" cy="923925"/>
          </a:xfrm>
          <a:prstGeom prst="roundRect">
            <a:avLst>
              <a:gd name="adj" fmla="val 10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2047875"/>
            <a:ext cx="531495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ΜΟΡΦΗ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Podcasts &amp; Συνεντεύξεις Ειδικών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067050"/>
            <a:ext cx="64258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Ηχητική Οικειότητα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371850"/>
            <a:ext cx="611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Ο ακροατής ακούει κατά τη μετακίνηση ή την άσκηση.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143375"/>
            <a:ext cx="64258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Συνεντεύξεις (Guest Authority)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448175"/>
            <a:ext cx="611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Πρόσκληση αναγνωρισμένων ειδικών για άντληση κοινού.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5755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5755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5755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ΜΟΡΦΗ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Μελέτες Περίπτωσης (Case Studies)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24250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Πρόκληση (Problem)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6715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Ποια δυσκολία αντιμετώπιζε ο πελάτης πριν συνεργαστεί.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24250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Λύση (Solution)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86715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Ποια συγκεκριμένη στρατηγική ή προϊόν εφαρμόστηκε.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24250"/>
            <a:ext cx="38481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40AF"/>
                </a:solidFill>
                <a:latin typeface="Plus Jakarta Sans"/>
              </a:rPr>
              <a:t>3. Αποτέλεσμα (Results)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86715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Μετρήσιμα νούμερα επιτυχίας (π.χ. +120% πωλήσεις).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678459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ΕΝΟΤΗΤΑ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83259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Στρατηγικές Μάρκετινγκ Περιεχομένου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722340"/>
            <a:ext cx="6572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Το χωνί πωλήσεων (Content Funnel), οι περσόνες αγοραστή, το SEO και η τέχνη του storytelling.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9912"/>
            <a:ext cx="3530649" cy="1571625"/>
          </a:xfrm>
          <a:prstGeom prst="roundRect">
            <a:avLst>
              <a:gd name="adj" fmla="val 7272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109912"/>
            <a:ext cx="3530649" cy="1571625"/>
          </a:xfrm>
          <a:prstGeom prst="roundRect">
            <a:avLst>
              <a:gd name="adj" fmla="val 7272"/>
            </a:avLst>
          </a:prstGeom>
          <a:solidFill>
            <a:srgbClr val="FEF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09912"/>
            <a:ext cx="3530649" cy="1571625"/>
          </a:xfrm>
          <a:prstGeom prst="roundRect">
            <a:avLst>
              <a:gd name="adj" fmla="val 727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ΜΟΝΤΕΛΟ ΜΕΤΑΤΡΟΠΗΣ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Το Χωνί Περιεχομένου (Content Funnel)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376612"/>
            <a:ext cx="3746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Inter"/>
              </a:rPr>
              <a:t>ΚΟΡΥΦΗ (TOFU)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95687"/>
            <a:ext cx="39338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Ευαισθητοποίηση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919537"/>
            <a:ext cx="374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Ανακάλυψη προβλήματος.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214812"/>
            <a:ext cx="374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Inter"/>
              </a:rPr>
              <a:t>Άρθρα blog, βίντεο, social.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49" y="3376612"/>
            <a:ext cx="3746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16207"/>
                </a:solidFill>
                <a:latin typeface="Inter"/>
              </a:rPr>
              <a:t>ΜΕΣΗ (MOFU)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449" y="3595687"/>
            <a:ext cx="39338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Αξιολόγηση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49" y="3919537"/>
            <a:ext cx="374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Έρευνα εναλλακτικών λύσεων.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49" y="4214812"/>
            <a:ext cx="374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A16207"/>
                </a:solidFill>
                <a:latin typeface="Inter"/>
              </a:rPr>
              <a:t>eBooks, οδηγοί, webinars.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8599" y="3376612"/>
            <a:ext cx="3746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Inter"/>
              </a:rPr>
              <a:t>ΒΑΣΗ (BOFU)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599" y="3595687"/>
            <a:ext cx="3873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Απόφαση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599" y="3919537"/>
            <a:ext cx="374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Επιλογή παρόχου και αγορά.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599" y="4214812"/>
            <a:ext cx="374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D4ED8"/>
                </a:solidFill>
                <a:latin typeface="Inter"/>
              </a:rPr>
              <a:t>Case studies, δωρεάν δοκιμές.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6575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76575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76575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43275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43275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343275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ΣΤΟΧΕΥΣΗ ΚΟΙΝΟΥ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Δημιουργία Buyer Personas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24275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Δημογραφικά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481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Ηλικία, επάγγελμα, εισόδημα και οικογενειακή κατάσταση.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724275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Σημεία Πόνου (Pain Points)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0481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Τα καθημερινά εμπόδια που ζητούν άμεση λύση.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724275"/>
            <a:ext cx="38481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Κίνητρα &amp; Στόχοι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0481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Τι επιθυμεί να πετύχει ο πελάτης στην πράξη.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90887"/>
            <a:ext cx="3530649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290887"/>
            <a:ext cx="3530649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90875"/>
            <a:ext cx="3530649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ΟΡΓΑΝΙΚΗ ΟΡΑΤΟΤΗΤΑ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Στρατηγική SEO &amp; Πρόθεση Αναζήτησης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519487"/>
            <a:ext cx="403390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Informational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833812"/>
            <a:ext cx="3841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«Πώς φτιάχνω εσπρέσο;»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071937"/>
            <a:ext cx="3841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Εκπαιδευτικό περιεχόμενο στο blog.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9349" y="3519487"/>
            <a:ext cx="403390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9349" y="3833812"/>
            <a:ext cx="3841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«Οι καλύτερες μηχανές εσπρέσο»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349" y="4071937"/>
            <a:ext cx="3841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Συγκρίσεις και οδηγοί αγοράς.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499" y="3419475"/>
            <a:ext cx="3911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Transactional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99" y="3733800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«Αγορά Delonghi Dedica προσφορά»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4171950"/>
            <a:ext cx="3841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Σελίδα προϊόντος έτοιμη για αγορά.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76350"/>
            <a:ext cx="10972800" cy="685800"/>
          </a:xfrm>
          <a:prstGeom prst="roundRect">
            <a:avLst>
              <a:gd name="adj" fmla="val 1388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67112"/>
            <a:ext cx="2600325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3662362"/>
            <a:ext cx="2600325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662362"/>
            <a:ext cx="2600325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3662362"/>
            <a:ext cx="2600325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ΟΡΓΑΝΩΣΗ ΠΑΡΑΓΩΓΗΣ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Ημερολόγιο Περιεχομένου (Editorial Calendar)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28750"/>
            <a:ext cx="10610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40AF"/>
                </a:solidFill>
                <a:latin typeface="Inter"/>
              </a:rPr>
              <a:t>Ποιον αφορά:</a:t>
            </a:r>
            <a:r>
              <a:rPr b="0" sz="1275" i="0" u="none">
                <a:solidFill>
                  <a:srgbClr val="1E40AF"/>
                </a:solidFill>
                <a:latin typeface="Inter"/>
              </a:rPr>
              <a:t> Τους Social Media Managers, Copywriters, Graphic Designers, Video Editors, αλλά και τη Διοίκηση/Stakeholders για το συντονισμό καμπανιών.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309" y="3795712"/>
            <a:ext cx="26789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563EB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336" y="4119562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Plus Jakarta Sans"/>
              </a:rPr>
              <a:t>Ιδεασμός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309" y="4414837"/>
            <a:ext cx="2678906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475569"/>
                </a:solidFill>
                <a:latin typeface="Inter"/>
              </a:rPr>
              <a:t>Έρευνα θεμάτων &amp; τάσεων.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1134" y="3890962"/>
            <a:ext cx="26789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563EB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4161" y="4214812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Plus Jakarta Sans"/>
              </a:rPr>
              <a:t>Παραγωγή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1134" y="4510087"/>
            <a:ext cx="2678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475569"/>
                </a:solidFill>
                <a:latin typeface="Inter"/>
              </a:rPr>
              <a:t>Συγγραφή, γραφικά, video.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1959" y="3890962"/>
            <a:ext cx="26789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563EB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4986" y="4214812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Plus Jakarta Sans"/>
              </a:rPr>
              <a:t>Προγραμματισμός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1959" y="4510087"/>
            <a:ext cx="2678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475569"/>
                </a:solidFill>
                <a:latin typeface="Inter"/>
              </a:rPr>
              <a:t>Κανάλια &amp; ακριβής ώρα.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784" y="3890962"/>
            <a:ext cx="26789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563EB"/>
                </a:solidFill>
                <a:latin typeface="Inte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5811" y="4214812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Plus Jakarta Sans"/>
              </a:rPr>
              <a:t>Αξιολόγηση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784" y="4510087"/>
            <a:ext cx="2678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475569"/>
                </a:solidFill>
                <a:latin typeface="Inter"/>
              </a:rPr>
              <a:t>Μέτρηση KPIs &amp; απόδοσης.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00250" y="3729037"/>
            <a:ext cx="8191500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ΣΥΝΑΙΣΘΗΜΑΤΙΚΗ ΣΥΝΔΕΣΗ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Brand Storytelling (Αφήγηση Ιστοριών)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61937" y="2405062"/>
            <a:ext cx="12715875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b="1" sz="2250" i="0" u="none">
                <a:solidFill>
                  <a:srgbClr val="1E3A8A"/>
                </a:solidFill>
                <a:latin typeface="Inter"/>
              </a:rPr>
              <a:t>«Οι άνθρωποι δεν αγοράζουν αγαθά και υπηρεσίες. Αγοράζουν σχέσεις, ιστορίες και μαγεία.»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1150" y="3300412"/>
            <a:ext cx="1409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— Seth Godin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5050" y="3919537"/>
            <a:ext cx="98869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Ποιος κάνει το Brand Storytelling στην εταιρεία;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5050" y="4205287"/>
            <a:ext cx="7677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 </a:t>
            </a:r>
            <a:r>
              <a:rPr b="1" sz="1275" i="0" u="none">
                <a:solidFill>
                  <a:srgbClr val="475569"/>
                </a:solidFill>
                <a:latin typeface="Inter"/>
              </a:rPr>
              <a:t>Ο Brand Strategist &amp; ο Creative Director: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Καθορίζουν την κεντρική φωνή, τις αξίες και τον τόνο του brand.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5050" y="4643437"/>
            <a:ext cx="9477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 </a:t>
            </a:r>
            <a:r>
              <a:rPr b="1" sz="1275" i="0" u="none">
                <a:solidFill>
                  <a:srgbClr val="475569"/>
                </a:solidFill>
                <a:latin typeface="Inter"/>
              </a:rPr>
              <a:t>Ο Copywriter &amp; Content Creator: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Μετουσιώνουν τις αξίες σε άρθρα, βίντεο και αναρτήσεις.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5050" y="4891087"/>
            <a:ext cx="9477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 </a:t>
            </a:r>
            <a:r>
              <a:rPr b="1" sz="1275" i="0" u="none">
                <a:solidFill>
                  <a:srgbClr val="475569"/>
                </a:solidFill>
                <a:latin typeface="Inter"/>
              </a:rPr>
              <a:t>Ο Ιδρυτής / CEO: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Εμπνέει με το προσωπικό του όραμα και την αφετηρία της επιχείρησης.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ΣΥΝΑΙΣΘΗΜΑΤΙΚΗ ΣΥΝΔΕΣΗ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Brand Storytelling (Αφήγηση Ιστοριών)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42875" y="2975669"/>
            <a:ext cx="1247775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1" sz="2400" i="0" u="none">
                <a:solidFill>
                  <a:srgbClr val="1E3A8A"/>
                </a:solidFill>
                <a:latin typeface="Inter"/>
              </a:rPr>
              <a:t>«Οι άνθρωποι δεν αγοράζουν αγαθά και υπηρεσίες. Αγοράζουν σχέσεις, ιστορίες και μαγεία.»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0187" y="3958530"/>
            <a:ext cx="1571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— Seth Godin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812" y="4415730"/>
            <a:ext cx="8334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34155"/>
                </a:solidFill>
                <a:latin typeface="Inter"/>
              </a:rPr>
              <a:t>Ο πελάτης είναι ο ήρωας της ιστορίας. Το brand σας είναι ο καθοδηγητής που του δίνει το εργαλείο για να νικήσει.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678459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ΕΝΟΤΗΤΑ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83259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Εργαλεία &amp; Πού θα τα Βρείτε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722340"/>
            <a:ext cx="6572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Πλατφόρμες διαχείρισης, σχεδιασμού, έρευνας λέξεων-κλειδιών και ανάλυσης δεδομένων.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95612"/>
            <a:ext cx="3530649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2995612"/>
            <a:ext cx="3530649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995612"/>
            <a:ext cx="3530649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24212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49" y="32242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99" y="3224212"/>
            <a:ext cx="2286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ΕΡΓΑΛΕΙΑ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Πλατφόρμες CMS &amp; Σχεδιασμού Γραφικών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24262"/>
            <a:ext cx="403390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WordPress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900487"/>
            <a:ext cx="3841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wordpress.org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1671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Το #1 CMS παγκοσμίως για blogs και SEO.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349" y="3624262"/>
            <a:ext cx="403390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Canva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349" y="3900487"/>
            <a:ext cx="3841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canva.com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9349" y="41671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Σχεδιασμός social posts, carousels και infographics.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499" y="3624262"/>
            <a:ext cx="3911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Ghost CMS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499" y="3900487"/>
            <a:ext cx="3841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ghost.org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499" y="41671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Ταχύτατη πλατφόρμα εκδόσεων και newsletters.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95612"/>
            <a:ext cx="3530649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2995612"/>
            <a:ext cx="3530649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995612"/>
            <a:ext cx="3530649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24212"/>
            <a:ext cx="295275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49" y="32242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99" y="322421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ΕΡΓΑΛΕΙΑ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Έρευνα Λέξεων-Κλειδιών &amp; Θεματολογίας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24262"/>
            <a:ext cx="403390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Google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900487"/>
            <a:ext cx="3841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trends.google.com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1671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Ανακάλυψη δημοφιλών θεμάτων σε πραγματικό χρόνο.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349" y="3624262"/>
            <a:ext cx="403390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Ubersuggest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349" y="3900487"/>
            <a:ext cx="3841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neilpatel.com/ubersuggest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9349" y="41671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Όγκος αναζητήσεων και ιδέες για νέο περιεχόμενο.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499" y="3624262"/>
            <a:ext cx="3911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Answer The 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499" y="3900487"/>
            <a:ext cx="3841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answerthepublic.com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499" y="41671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Τι ερωτήσεις θέτουν οι χρήστες στο Google.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67450" y="2662237"/>
            <a:ext cx="5314950" cy="1228725"/>
          </a:xfrm>
          <a:prstGeom prst="roundRect">
            <a:avLst>
              <a:gd name="adj" fmla="val 77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4024312"/>
            <a:ext cx="5314950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47875"/>
            <a:ext cx="531495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ΕΡΓΑΛΕΙΑ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Προγραμματισμός &amp; Μέτρηση Απόδοσης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2833687"/>
            <a:ext cx="5753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Google Analytics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3100387"/>
            <a:ext cx="57531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Inter"/>
              </a:rPr>
              <a:t>analytics.google.com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900" y="3319462"/>
            <a:ext cx="5067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Μέτρηση επισκεψιμότητας, χρόνου παραμονής και conversions.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4195762"/>
            <a:ext cx="5753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Buffer &amp; Hootsuite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4462462"/>
            <a:ext cx="57531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Inter"/>
              </a:rPr>
              <a:t>buffer.com | hootsuite.com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4681537"/>
            <a:ext cx="5753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Αυτόματη δημοσίευση στα social media από ένα σημείο.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3250"/>
            <a:ext cx="3530649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143250"/>
            <a:ext cx="3530649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43250"/>
            <a:ext cx="3530649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7185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49" y="3371850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99" y="3371850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ΕΝΟΤΗΤΑ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Οργανική Προώθηση στα Κοινωνικά Δίκτυα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733800"/>
            <a:ext cx="403390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Content Repurposing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019550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1 άρθρο blog μετατρέπεται σε 5 social posts και 1 βίντεο.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349" y="3733800"/>
            <a:ext cx="403390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Community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349" y="4019550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Άμεση απάντηση σε κάθε σχόλιο την πρώτη ώρα.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99" y="3733800"/>
            <a:ext cx="3911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Employee Advocacy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4019550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Κοινοποίηση άρθρων από τα προσωπικά προφίλ της ομάδας.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8487"/>
            <a:ext cx="3530649" cy="1514475"/>
          </a:xfrm>
          <a:prstGeom prst="roundRect">
            <a:avLst>
              <a:gd name="adj" fmla="val 754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138487"/>
            <a:ext cx="3530649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43250"/>
            <a:ext cx="3530649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67087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49" y="3367087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99" y="337185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ΕΝΟΤΗΤΑ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Ο Ρόλος της Διαφήμισης στα Social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729037"/>
            <a:ext cx="403390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40AF"/>
                </a:solidFill>
                <a:latin typeface="Plus Jakarta Sans"/>
              </a:rPr>
              <a:t>Ενίσχυση (Post Boosting)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024312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Επιτάχυνση αναρτήσεων που ήδη ξεχώρισαν οργανικά.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349" y="3729037"/>
            <a:ext cx="403390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Retargeting (Επαναστόχευση)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349" y="4024312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Εμφάνιση προσφορών σε όσους διάβασαν ήδη το blog.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99" y="3733800"/>
            <a:ext cx="3911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Lookalike Audiences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4019550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Εύρεση νέων χρηστών με ίδια συμπεριφορά με τους πελάτες σας.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689919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ΠΡΟΕΤΟΙΜΑΣΙΑ ΕΞΕΤΑΣΕΩΝ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94719"/>
            <a:ext cx="114300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450" i="0" u="none">
                <a:solidFill>
                  <a:srgbClr val="0F172A"/>
                </a:solidFill>
                <a:latin typeface="Plus Jakarta Sans"/>
              </a:rPr>
              <a:t>20 Ερωτήσεις &amp; Απαντήσεις Εξετάσεων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710880"/>
            <a:ext cx="7334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Αναλυτικές ερωτήσεις πιστοποίησης γνώσεων με τις αντίστοιχες πρότυπες απαντήσεις για την τελική αξιολόγηση του 4ωρου σεμιναρίου.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985962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947987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729037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691062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381000"/>
            <a:ext cx="11620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ΤΡΑΠΕΖΑ ΘΕΜΑΤΩΝ • ΕΡΩΤΗΣΕΙΣ 1 - 4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20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Ορισμοί &amp; Θεμελιώδεις Αρχές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100262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1. Τι είναι το Μάρκετινγκ Περιεχομένου;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357437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Η στρατηγική δημιουργίας και διανομής πολύτιμου, σχετικού και συνεπούς υλικού με σκοπό την προσέλκυση και διατήρηση σαφούς κοινού και την επίτευξη κερδοφόρας δράσης.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062287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2. Ποιο θεωρείται το πρώτο ιστορικό παράδειγμα έντυπου μάρκετινγκ περιεχομένου;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3319462"/>
            <a:ext cx="114490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Το περιοδικό «The Furrow» της John Deere το 1895, που προσέφερε πρακτικές γεωργικές συμβουλές αντί για άμεση διαφήμιση τρακτέρ.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843337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3. Ποια είναι η διαφορά μεταξύ Push και Pull Marketing;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100512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Το Push διακόπτει τον καταναλωτή επιβάλλοντας το μήνυμα (κλασική διαφήμιση), ενώ το Pull προσελκύει τον καταναλωτή επειδή ο ίδιος αναζητά απάντηση ή λύση σε ένα πρόβλημα.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805362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4. Τι σημαίνει «Inbound Marketing» στα ελληνικά;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5062537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Εισερχόμενο μάρκετινγκ — η μέθοδος κατά την οποία ο υποψήφιος πελάτης ανακαλύπτει οργανικά την επιχείρηση μέσω περιεχομένου, μηχανών αναζήτησης και social media.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985962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947987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910012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872037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381000"/>
            <a:ext cx="11620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ΤΡΑΠΕΖΑ ΘΕΜΑΤΩΝ • ΕΡΩΤΗΣΕΙΣ 5 - 8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20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Ορολογία &amp; Σύγκριση με Κλασική Διαφήμιση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100262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5. Τι είναι το Lead Magnet και ποιος ο ρόλος του;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357437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«Μαγνήτης υποψηφίων» — δωρεάν πολύτιμο υλικό (π.χ. PDF οδηγός, webinar) που δίνεται σε αντάλλαγμα για τα στοιχεία επικοινωνίας του χρήστη (email).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062287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6. Τι σημαίνει ο όρος «Evergreen Content»;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3319462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Αειθαλές περιεχόμενο — υλικό που διατηρεί τη χρησιμότητα και την αξία του για μήνες ή χρόνια, φέρνοντας σταθερή επισκεψιμότητα χωρίς να παλιώνει.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4024312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7. Τι είναι το B2B και ποια η διαφορά από το B2C;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281487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B2B σημαίνει πώληση μεταξύ επιχειρήσεων με ορθολογικά κριτήρια και μεγαλύτερους κύκλους απόφασης, ενώ B2C σημαίνει πώληση σε μεμονωμένους καταναλωτές.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986337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8. Ποιοι ονομάζονται «Decision Makers» σε μια επιχείρηση;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5243512"/>
            <a:ext cx="114490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Οι υπεύθυνοι λήψης αποφάσεων (π.χ. Γενικοί Διευθυντές, CFOs) που αξιολογούν επενδύσεις και έχουν το δικαίωμα υπογραφής για μία αγορά.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166937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947987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729037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691062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381000"/>
            <a:ext cx="11620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ΤΡΑΠΕΖΑ ΘΕΜΑΤΩΝ • ΕΡΩΤΗΣΕΙΣ 9 - 12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20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Μορφές Περιεχομένου &amp; Χαρακτηριστικά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281237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9. Σε τι διαφέρει ένα Blog από μία στατική σελίδα ιστοτόπου;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538412"/>
            <a:ext cx="114490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Το blog ενημερώνεται διαρκώς με νέα άρθρα στοχεύοντας ερωτήματα χρηστών (SEO), ενώ η στατική σελίδα (π.χ. «Σχετικά με εμάς») παραμένει αμετάβλητη.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062287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10. Ποιο είναι το κύριο πλεονέκτημα ενός Infographic;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3319462"/>
            <a:ext cx="114490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Μετατρέπει πολύπλοκα στατιστικά σε ελκυστική οπτική μορφή, πετυχαίνοντας υψηλό virality και προσέλκυση εισερχόμενων συνδέσμων (backlinks).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843337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11. Τι είναι τα «Text Threads / Σκέψεις» στα social media;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100512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Σειρά συνδεδεμένων σύντομων μηνυμάτων κειμένου σε πλατφόρμες όπως το X και το Threads, όπου ο δημιουργός αναλύει ένα θέμα χωρίς να απαιτείται γραφικό.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805362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12. Ποια είναι η βασική δομή ενός Case Study;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5062537"/>
            <a:ext cx="114490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Τρίπτυχο: 1) Πρόκληση/Πρόβλημα πελάτη, 2) Λύση/Στρατηγική που εφαρμόστηκε, 3) Μετρήσιμο αποτέλεσμα και απόδοση (KPIs).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076450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857500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819525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781550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381000"/>
            <a:ext cx="11620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ΤΡΑΠΕΖΑ ΘΕΜΑΤΩΝ • ΕΡΩΤΗΣΕΙΣ 13 - 16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20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Στρατηγική, Funnel &amp;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190750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13. Ποια είναι τα 3 στάδια του Content Funnel (TOFU, MOFU, BOFU);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447925"/>
            <a:ext cx="114490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TOFU (Ευαισθητοποίηση για το πρόβλημα), MOFU (Αξιολόγηση λύσεων και εργαλείων), BOFU (Απόφαση αγοράς συγκεκριμένου προϊόντος).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971800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14. Τι είναι η «Buyer Persona»;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3228975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Μία ημι-φανταστική αναπαράσταση του ιδανικού πελάτη, βασισμένη σε δημογραφικά στοιχεία, συμπεριφορές, κίνητρα και σημεία πόνου (pain points).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933825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15. Ποιον αφορά το Ημερολόγιο Περιεχομένου (Editorial Calendar);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191000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Όλη την ομάδα παραγωγής (Copywriters, Designers, Video Editors, Social Media Managers) και τη Διοίκηση για την τήρηση χρονοδιαγραμμάτων και στρατηγικής.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895850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16. Ποιος έχει την ευθύνη του Brand Storytelling;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5153025"/>
            <a:ext cx="114490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Καθορίζεται από τον Brand Strategist, τον Creative Director και τον Founder/CEO, και εκτελείται από τους Copywriters και Content Creators.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985962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767012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729037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691062"/>
            <a:ext cx="11049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381000"/>
            <a:ext cx="11620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ΤΡΑΠΕΖΑ ΘΕΜΑΤΩΝ • ΕΡΩΤΗΣΕΙΣ 17 - 20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20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Εργαλεία &amp; Προώθηση στα Social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100262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17. Ποια εργαλεία χρησιμοποιούμε για έρευνα θεμάτων και αναζητήσεων χρηστών;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357437"/>
            <a:ext cx="114490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Google Trends (trends.google.com), Ubersuggest (neilpatel.com/ubersuggest) και Answer The Public (answerthepublic.com).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881312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18. Τι σημαίνει «Content Repurposing» (Επαναχρησιμοποίηση Περιεχομένου);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3138487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Η μετατροπή ενός βασικού υλικού (π.χ. ενός άρθρου blog) σε πολλαπλές άλλες μορφές (Reels, Infographic, Carousels, Newsletter) για μέγιστη απόδοση.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843337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19. Τι είναι το Retargeting (Επαναστόχευση) στα Social Media;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100512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Η προβολή διαφημίσεων σε χρήστες που έχουν ήδη αλληλεπιδράσει με το περιεχόμενό μας ή έχουν επισκεφθεί την ιστοσελίδα μας, οδηγώντας τους στην αγορά.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805362"/>
            <a:ext cx="1144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20. Τι είναι τα Lookalike Audiences στις διαφημίσεις;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5062537"/>
            <a:ext cx="10801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Απάντηση: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Κοινά που δημιουργούνται από τους αλγορίθμους εντοπίζοντας νέους χρήστες με παρόμοια δημογραφικά και συμπεριφορικά χαρακτηριστικά με τους υφιστάμενους πελάτες μας.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53100" y="447481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94609" y="2345084"/>
            <a:ext cx="3202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Inter"/>
              </a:rPr>
              <a:t>ΟΛΟΚΛΗΡΩΣΗ ΜΑΘΗΜΑΤΟΣ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8587" y="2687984"/>
            <a:ext cx="8594824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Συζήτηση &amp; Ερωτήσεις (Q&amp;A)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465165"/>
            <a:ext cx="857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Το εξαιρετικό περιεχόμενο δεν πουλάει άμεσα — χτίζει την αξία που κάνει την πώληση αναπόφευκτη.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4317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42987"/>
            <a:ext cx="646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https://www.avermedia.com/files/resize/1440/1be65a7e25a05193e5f0a11332518903.jpg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43012"/>
            <a:ext cx="2655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www.avermedia.com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14512"/>
            <a:ext cx="8179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https://s3.amazonaws.com/thumbnails.venngage.com/template/a40d782a-3b45-4cfa-af76-628368c874fd.png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14537"/>
            <a:ext cx="2083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venngage.com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86037"/>
            <a:ext cx="8167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https://storage.ghost.io/c/9f/ac/9facdd07-dff9-4e68-aef4-602ee78b7cff/content/images/2026/03/hero-16.jpg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786062"/>
            <a:ext cx="2464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www.sendowl.com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