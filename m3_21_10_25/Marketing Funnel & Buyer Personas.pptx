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57" r:id="rId11"/>
    <p:sldId id="258" r:id="rId12"/>
    <p:sldId id="269" r:id="rId13"/>
    <p:sldId id="270" r:id="rId14"/>
    <p:sldId id="268" r:id="rId15"/>
  </p:sldIdLst>
  <p:sldSz cx="12192000" cy="6858000"/>
  <p:notesSz cx="6858000" cy="9144000"/>
  <p:embeddedFontLst>
    <p:embeddedFont>
      <p:font typeface="Plus Jakarta Sans"/>
      <p:bold r:id="rId16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5" d="100"/>
          <a:sy n="75" d="100"/>
        </p:scale>
        <p:origin x="72" y="12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952500" y="4775745"/>
            <a:ext cx="685800" cy="381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52500" y="2044154"/>
            <a:ext cx="112395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ΨΗΦΙΑΚΟ ΜΑΡΚΕΤΙΝΓΚ &amp; ΣΤΡΑΤΗΓΙΚΗ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2500" y="2396579"/>
            <a:ext cx="8601075" cy="1182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57"/>
              </a:lnSpc>
            </a:pPr>
            <a:r>
              <a:rPr sz="4050" b="1" i="0" u="none">
                <a:solidFill>
                  <a:srgbClr val="FFFFFF"/>
                </a:solidFill>
                <a:latin typeface="Plus Jakarta Sans"/>
              </a:rPr>
              <a:t>Marketing Funnel &amp; Buyer Personas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3808065"/>
            <a:ext cx="6572250" cy="586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310"/>
              </a:lnSpc>
            </a:pPr>
            <a:r>
              <a:rPr sz="1650" b="0" i="0" u="none">
                <a:solidFill>
                  <a:srgbClr val="94A3B8"/>
                </a:solidFill>
                <a:latin typeface="Plus Jakarta Sans"/>
              </a:rPr>
              <a:t>Θεωρητικό πλαίσιο ανάλυσης κοινού, στάδια χωνιού πωλήσεων και ολοκληρωμένη εφαρμογή στην πράξη.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970014"/>
            <a:ext cx="2524125" cy="1603771"/>
          </a:xfrm>
          <a:prstGeom prst="roundRect">
            <a:avLst>
              <a:gd name="adj" fmla="val 9502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76625" y="2970014"/>
            <a:ext cx="2524125" cy="1603771"/>
          </a:xfrm>
          <a:prstGeom prst="roundRect">
            <a:avLst>
              <a:gd name="adj" fmla="val 9502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91250" y="2970014"/>
            <a:ext cx="2524125" cy="1603771"/>
          </a:xfrm>
          <a:prstGeom prst="roundRect">
            <a:avLst>
              <a:gd name="adj" fmla="val 9502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05875" y="2970014"/>
            <a:ext cx="2524125" cy="1603771"/>
          </a:xfrm>
          <a:prstGeom prst="roundRect">
            <a:avLst>
              <a:gd name="adj" fmla="val 9502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ΘΕΩΡΙΑ: ΤΟ ΤΑΞΙΔΙ ΤΟΥ ΠΕΛΑΤΗ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Η Διαδρομή του Marketing Funnel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3236714"/>
            <a:ext cx="26789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ΣΤΑΔΙΟ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2500" y="3484364"/>
            <a:ext cx="281285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Plus Jakarta Sans"/>
              </a:rPr>
              <a:t>Awareness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3827264"/>
            <a:ext cx="2238375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1E40AF"/>
                </a:solidFill>
                <a:latin typeface="Plus Jakarta Sans"/>
              </a:rPr>
              <a:t>Αναγνώριση προβλήματος από τον χρήστη.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7125" y="3236714"/>
            <a:ext cx="26789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Plus Jakarta Sans"/>
              </a:rPr>
              <a:t>ΣΤΑΔΙΟ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7125" y="3484364"/>
            <a:ext cx="281285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4C1D95"/>
                </a:solidFill>
                <a:latin typeface="Plus Jakarta Sans"/>
              </a:rPr>
              <a:t>Interest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67125" y="3827264"/>
            <a:ext cx="2238375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5B21B6"/>
                </a:solidFill>
                <a:latin typeface="Plus Jakarta Sans"/>
              </a:rPr>
              <a:t>Αναζήτηση λύσεων και αξιολόγηση επιλογών.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81750" y="3236714"/>
            <a:ext cx="26789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59669"/>
                </a:solidFill>
                <a:latin typeface="Plus Jakarta Sans"/>
              </a:rPr>
              <a:t>ΣΤΑΔΙΟ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81750" y="3484364"/>
            <a:ext cx="281285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64E3B"/>
                </a:solidFill>
                <a:latin typeface="Plus Jakarta Sans"/>
              </a:rPr>
              <a:t>Decision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81750" y="3827264"/>
            <a:ext cx="2238375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065F46"/>
                </a:solidFill>
                <a:latin typeface="Plus Jakarta Sans"/>
              </a:rPr>
              <a:t>Σύγκριση και υπέρβαση των τελικών δισταγμών.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96375" y="3236714"/>
            <a:ext cx="2678906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475569"/>
                </a:solidFill>
                <a:latin typeface="Plus Jakarta Sans"/>
              </a:rPr>
              <a:t>ΣΤΑΔΙΟ 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6375" y="3484364"/>
            <a:ext cx="2812851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Action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6375" y="3827264"/>
            <a:ext cx="2238375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334155"/>
                </a:solidFill>
                <a:latin typeface="Plus Jakarta Sans"/>
              </a:rPr>
              <a:t>Ολοκλήρωση αγοράς και πρώτη χρήση.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45283"/>
            <a:ext cx="5162550" cy="2053232"/>
          </a:xfrm>
          <a:prstGeom prst="roundRect">
            <a:avLst>
              <a:gd name="adj" fmla="val 742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745283"/>
            <a:ext cx="5162550" cy="2053232"/>
          </a:xfrm>
          <a:prstGeom prst="roundRect">
            <a:avLst>
              <a:gd name="adj" fmla="val 7422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900" y="3107233"/>
            <a:ext cx="228600" cy="2286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0350" y="3107233"/>
            <a:ext cx="200025" cy="228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ΜΕΘΟΔΟΛΟΓΙΑ ΣΧΕΔΙΑΣΜΟΥ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Στρατηγική (Αριστερά) vs Ενέργειες (Δεξιά)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7800" y="3088183"/>
            <a:ext cx="240030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Stages &amp; 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4900" y="3507283"/>
            <a:ext cx="5595937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Ψυχολογία: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Τι νιώθει ή τι φοβάται ο πελάτης.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4900" y="3861494"/>
            <a:ext cx="5595937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Στόχος: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Τι θέλει να πετύχει η επιχείρηση.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4900" y="4215705"/>
            <a:ext cx="5595937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Καθοδήγηση: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Μετάβαση στο επόμενο επίπεδο.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24675" y="3088183"/>
            <a:ext cx="1120140" cy="2667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10350" y="3507283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Εργαλεία: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Social video, guides και landing pages.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0350" y="3861494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Προσφορές: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Δωρεάν δοκιμές και demo παρουσιάσεις.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0350" y="4215705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Onboarding: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Απλοποίηση πληρωμής και έναρξης.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249834"/>
            <a:ext cx="609600" cy="6096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5025" y="2411759"/>
            <a:ext cx="361950" cy="28575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846978" y="3049934"/>
            <a:ext cx="2497894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050" b="1" i="0" u="none">
                <a:solidFill>
                  <a:srgbClr val="2563EB"/>
                </a:solidFill>
                <a:latin typeface="Plus Jakarta Sans"/>
              </a:rPr>
              <a:t>ΕΦΑΡΜΟΓΗ ΣΤΗΝ ΠΡΑΞΗ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32171" y="3335684"/>
            <a:ext cx="9127507" cy="5485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320"/>
              </a:lnSpc>
            </a:pPr>
            <a:r>
              <a:rPr sz="3600" b="1" i="0" u="none">
                <a:solidFill>
                  <a:srgbClr val="0F172A"/>
                </a:solidFill>
                <a:latin typeface="Plus Jakarta Sans"/>
              </a:rPr>
              <a:t>Λυμένο Παράδειγμα για την Τάξη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05062" y="4074765"/>
            <a:ext cx="7381875" cy="533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100"/>
              </a:lnSpc>
            </a:pPr>
            <a:r>
              <a:rPr sz="1500" b="0" i="0" u="none">
                <a:solidFill>
                  <a:srgbClr val="64748B"/>
                </a:solidFill>
                <a:latin typeface="Plus Jakarta Sans"/>
              </a:rPr>
              <a:t>Εφαρμογή «FitHome»: Πλήρης ανάλυση Buyer Persona και Funnel για μια συνδρομητική εφαρμογή γυμναστικής στο σπίτι.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1962150"/>
            <a:ext cx="4084290" cy="3619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" y="1962150"/>
            <a:ext cx="4084290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ΛΥΜΕΝΟ ΠΑΡΑΔΕΙΓΜΑ: PERSONA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«Ο Αγχωμένος Γιώργος» (22 ετών)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303490" y="2396728"/>
            <a:ext cx="6888509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Προφίλ &amp; Καθημερινότητα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490" y="2701528"/>
            <a:ext cx="6888509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Φοιτητής με απογευματινή εργασία και πολλές ώρες στον υπολογιστή.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490" y="3131939"/>
            <a:ext cx="6888509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Στόχος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490" y="3436739"/>
            <a:ext cx="6888509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Βελτίωση αντοχής και ενέργειας με προπόνηση 20 λεπτών.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03490" y="3867150"/>
            <a:ext cx="6888509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Μεγαλύτερο Εμπόδιο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490" y="4171950"/>
            <a:ext cx="6888509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Έλλειψη χρόνου για μετακινήσεις και περιορισμένος προϋπολογισμός.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490" y="4602360"/>
            <a:ext cx="6888509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Συχνές Πλατφόρμες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490" y="4907160"/>
            <a:ext cx="6888509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Instagram Reels, TikTok και YouTube Shorts.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77715"/>
            <a:ext cx="5162550" cy="2188368"/>
          </a:xfrm>
          <a:prstGeom prst="roundRect">
            <a:avLst>
              <a:gd name="adj" fmla="val 6964"/>
            </a:avLst>
          </a:prstGeom>
          <a:solidFill>
            <a:srgbClr val="EFF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740521"/>
            <a:ext cx="5162550" cy="2062757"/>
          </a:xfrm>
          <a:prstGeom prst="roundRect">
            <a:avLst>
              <a:gd name="adj" fmla="val 73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ΣΤΑΔΙΟ 1: AWARENESS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Εφαρμογή FitHome: Προσέλκυση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" y="3020615"/>
            <a:ext cx="5875734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1E3A8A"/>
                </a:solidFill>
                <a:latin typeface="Plus Jakarta Sans"/>
              </a:rPr>
              <a:t>Στρατηγική &amp; Πελάτης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" y="3449240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1E40AF"/>
                </a:solidFill>
                <a:latin typeface="Plus Jakarta Sans"/>
              </a:rPr>
              <a:t>Πελάτης:</a:t>
            </a:r>
            <a:r>
              <a:rPr sz="1350" b="0" i="0" u="none">
                <a:solidFill>
                  <a:srgbClr val="1E40AF"/>
                </a:solidFill>
                <a:latin typeface="Plus Jakarta Sans"/>
              </a:rPr>
              <a:t> Νιώθει κούραση και βαριέται τις μετακινήσεις στο γυμναστήριο.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" y="4043362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1E40AF"/>
                </a:solidFill>
                <a:latin typeface="Plus Jakarta Sans"/>
              </a:rPr>
              <a:t>Στόχος:</a:t>
            </a:r>
            <a:r>
              <a:rPr sz="1350" b="0" i="0" u="none">
                <a:solidFill>
                  <a:srgbClr val="1E40AF"/>
                </a:solidFill>
                <a:latin typeface="Plus Jakarta Sans"/>
              </a:rPr>
              <a:t> Να κατανοήσει ότι αρκούν 20 λεπτά άσκησης στο σαλόνι.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0350" y="3083421"/>
            <a:ext cx="5581650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Ενέργειες Υλοποίησης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512046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TikTok/Reels: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Σύντομο χιουμοριστικό βίντεο σύγκρισης.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0350" y="3866257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Content: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Άρθρο για ασκήσεις χωρίς εξοπλισμό.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0350" y="4220467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Free PDF: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Οδηγός προγράμματος για αρχάριους.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677715"/>
            <a:ext cx="5162550" cy="2188368"/>
          </a:xfrm>
          <a:prstGeom prst="roundRect">
            <a:avLst>
              <a:gd name="adj" fmla="val 6964"/>
            </a:avLst>
          </a:prstGeom>
          <a:solidFill>
            <a:srgbClr val="F5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740521"/>
            <a:ext cx="5162550" cy="2062757"/>
          </a:xfrm>
          <a:prstGeom prst="roundRect">
            <a:avLst>
              <a:gd name="adj" fmla="val 73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7C3AED"/>
                </a:solidFill>
                <a:latin typeface="Plus Jakarta Sans"/>
              </a:rPr>
              <a:t>ΣΤΑΔΙΟ 2: INTEREST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Εφαρμογή FitHome: Ενδιαφέρον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" y="3020615"/>
            <a:ext cx="5875734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4C1D95"/>
                </a:solidFill>
                <a:latin typeface="Plus Jakarta Sans"/>
              </a:rPr>
              <a:t>Στρατηγική &amp; Πελάτης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" y="3449240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5B21B6"/>
                </a:solidFill>
                <a:latin typeface="Plus Jakarta Sans"/>
              </a:rPr>
              <a:t>Πελάτης:</a:t>
            </a:r>
            <a:r>
              <a:rPr sz="1350" b="0" i="0" u="none">
                <a:solidFill>
                  <a:srgbClr val="5B21B6"/>
                </a:solidFill>
                <a:latin typeface="Plus Jakarta Sans"/>
              </a:rPr>
              <a:t> Ψάχνει εφαρμογές fitness στο Google Play και App Store.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" y="4043362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5B21B6"/>
                </a:solidFill>
                <a:latin typeface="Plus Jakarta Sans"/>
              </a:rPr>
              <a:t>Στόχος:</a:t>
            </a:r>
            <a:r>
              <a:rPr sz="1350" b="0" i="0" u="none">
                <a:solidFill>
                  <a:srgbClr val="5B21B6"/>
                </a:solidFill>
                <a:latin typeface="Plus Jakarta Sans"/>
              </a:rPr>
              <a:t> Να δοκιμάσει το app μας ως την πιο εύχρηστη επιλογή.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0350" y="3083421"/>
            <a:ext cx="5581650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Ενέργειες Υλοποίησης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512046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Free Trial: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Δωρεάν δοκιμή 7 ημερών χωρίς κάρτα.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0350" y="3866257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Email Series: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Σειρά 3 μηνυμάτων με συμβουλές διατροφής.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0350" y="4220467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Quiz: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Διαδραστικό τεστ επιλογής προγράμματος.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97671"/>
            <a:ext cx="5162550" cy="1948457"/>
          </a:xfrm>
          <a:prstGeom prst="roundRect">
            <a:avLst>
              <a:gd name="adj" fmla="val 7821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740521"/>
            <a:ext cx="5162550" cy="2062757"/>
          </a:xfrm>
          <a:prstGeom prst="roundRect">
            <a:avLst>
              <a:gd name="adj" fmla="val 738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59669"/>
                </a:solidFill>
                <a:latin typeface="Plus Jakarta Sans"/>
              </a:rPr>
              <a:t>ΣΤΑΔΙΟ 3: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Εφαρμογή FitHome: Απόφαση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" y="3140571"/>
            <a:ext cx="5875734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64E3B"/>
                </a:solidFill>
                <a:latin typeface="Plus Jakarta Sans"/>
              </a:rPr>
              <a:t>Στρατηγική &amp; Πελάτης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" y="3569196"/>
            <a:ext cx="5595937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065F46"/>
                </a:solidFill>
                <a:latin typeface="Plus Jakarta Sans"/>
              </a:rPr>
              <a:t>Πελάτης:</a:t>
            </a:r>
            <a:r>
              <a:rPr sz="1350" b="0" i="0" u="none">
                <a:solidFill>
                  <a:srgbClr val="065F46"/>
                </a:solidFill>
                <a:latin typeface="Plus Jakarta Sans"/>
              </a:rPr>
              <a:t> Του αρέσει η εμπειρία αλλά διστάζει για το κόστος.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" y="3923407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065F46"/>
                </a:solidFill>
                <a:latin typeface="Plus Jakarta Sans"/>
              </a:rPr>
              <a:t>Στόχος:</a:t>
            </a:r>
            <a:r>
              <a:rPr sz="1350" b="0" i="0" u="none">
                <a:solidFill>
                  <a:srgbClr val="065F46"/>
                </a:solidFill>
                <a:latin typeface="Plus Jakarta Sans"/>
              </a:rPr>
              <a:t> Εξάλειψη ρίσκου και απόδειξη αξίας της συνδρομής.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0350" y="3083421"/>
            <a:ext cx="5581650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Ενέργειες Υλοποίησης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512046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Testimonials: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Βίντεο μαρτυριών από άλλους φοιτητές.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0350" y="3866257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Live Demo: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Ζωντανή προπόνηση γνωριμίας με γυμναστή.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0350" y="4220467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Προσφορά: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Έκπτωση 40% στην ετήσια συνδρομή.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97671"/>
            <a:ext cx="5162550" cy="1948457"/>
          </a:xfrm>
          <a:prstGeom prst="roundRect">
            <a:avLst>
              <a:gd name="adj" fmla="val 7821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67450" y="2620565"/>
            <a:ext cx="5162550" cy="2302668"/>
          </a:xfrm>
          <a:prstGeom prst="roundRect">
            <a:avLst>
              <a:gd name="adj" fmla="val 6618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F172A"/>
                </a:solidFill>
                <a:latin typeface="Plus Jakarta Sans"/>
              </a:rPr>
              <a:t>ΣΤΑΔΙΟ 4: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Εφαρμογή FitHome: Ενεργοποίηση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4900" y="3140571"/>
            <a:ext cx="5875734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Στρατηγική &amp; Πελάτης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4900" y="3569196"/>
            <a:ext cx="5595937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Plus Jakarta Sans"/>
              </a:rPr>
              <a:t>Πελάτης: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Πείστηκε και είναι έτοιμος να ξεκινήσει σήμερα.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900" y="3923407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334155"/>
                </a:solidFill>
                <a:latin typeface="Plus Jakarta Sans"/>
              </a:rPr>
              <a:t>Στόχος:</a:t>
            </a:r>
            <a:r>
              <a:rPr sz="1350" b="0" i="0" u="none">
                <a:solidFill>
                  <a:srgbClr val="334155"/>
                </a:solidFill>
                <a:latin typeface="Plus Jakarta Sans"/>
              </a:rPr>
              <a:t> Άμεση και ομαλή εκκίνηση της πρώτης προπόνησης.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10350" y="2963465"/>
            <a:ext cx="5581650" cy="2762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650" b="1" i="0" u="none">
                <a:solidFill>
                  <a:srgbClr val="0F172A"/>
                </a:solidFill>
                <a:latin typeface="Plus Jakarta Sans"/>
              </a:rPr>
              <a:t>Ενέργειες Υλοποίησης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10350" y="3392090"/>
            <a:ext cx="45720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Easy Checkout: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Πληρωμή με ένα κλικ μέσω Apple/Google Pay.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0350" y="3986212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Onboarding: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Άμεση ρύθμιση ημερήσιων ειδοποιήσεων.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10350" y="4340423"/>
            <a:ext cx="5581650" cy="23991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1" i="0" u="none">
                <a:solidFill>
                  <a:srgbClr val="475569"/>
                </a:solidFill>
                <a:latin typeface="Plus Jakarta Sans"/>
              </a:rPr>
              <a:t>Quick Start:</a:t>
            </a:r>
            <a:r>
              <a:rPr sz="1350" b="0" i="0" u="none">
                <a:solidFill>
                  <a:srgbClr val="475569"/>
                </a:solidFill>
                <a:latin typeface="Plus Jakarta Sans"/>
              </a:rPr>
              <a:t> Σύντομο ζέσταμα 3 λεπτών κατά την είσοδο.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5080" y="1962150"/>
            <a:ext cx="4594919" cy="36195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5080" y="1962150"/>
            <a:ext cx="4594919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ΘΕΩΡΙΑ: ΤΟ ΚΟΙΝΟ ΜΑΣ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Τι είναι η Buyer Persona;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337792"/>
            <a:ext cx="73708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Ο Ιδανικός Πελάτης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2661642"/>
            <a:ext cx="571113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Μια ημι-φανταστική αναπαράσταση του πελάτη βασισμένη σε πραγματικά δεδομένα και έρευνα αγοράς.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370064"/>
            <a:ext cx="73708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Γιατί είναι απαραίτητη;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3693914"/>
            <a:ext cx="571113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Βοηθά στην κατανόηση των αναγκών, των φόβων και της καθημερινότητας του χρήστη πριν τη δημιουργία διαφημίσεων.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402335"/>
            <a:ext cx="7370843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1E293B"/>
                </a:solidFill>
                <a:latin typeface="Plus Jakarta Sans"/>
              </a:rPr>
              <a:t>Πέρα από τα Δημογραφικά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2000" y="4726185"/>
            <a:ext cx="571113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475569"/>
                </a:solidFill>
                <a:latin typeface="Plus Jakarta Sans"/>
              </a:rPr>
              <a:t>Εστιάζει στα ψυχογραφικά χαρακτηριστικά: κίνητρα, ανασφάλειες και συνήθειες λήψης αποφάσεων.</a:t>
            </a:r>
          </a:p>
        </p:txBody>
      </p:sp>
    </p:spTree>
    <p:extLst>
      <p:ext uri="{BB962C8B-B14F-4D97-AF65-F5344CB8AC3E}">
        <p14:creationId xmlns:p14="http://schemas.microsoft.com/office/powerpoint/2010/main" val="1670850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762000" y="2760464"/>
            <a:ext cx="2495550" cy="2022871"/>
          </a:xfrm>
          <a:prstGeom prst="roundRect">
            <a:avLst>
              <a:gd name="adj" fmla="val 75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3486150" y="2640508"/>
            <a:ext cx="2495550" cy="2262782"/>
          </a:xfrm>
          <a:prstGeom prst="roundRect">
            <a:avLst>
              <a:gd name="adj" fmla="val 6735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210300" y="2760464"/>
            <a:ext cx="2495550" cy="2022871"/>
          </a:xfrm>
          <a:prstGeom prst="roundRect">
            <a:avLst>
              <a:gd name="adj" fmla="val 75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934450" y="2760464"/>
            <a:ext cx="2495550" cy="2022871"/>
          </a:xfrm>
          <a:prstGeom prst="roundRect">
            <a:avLst>
              <a:gd name="adj" fmla="val 7533"/>
            </a:avLst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3065264"/>
            <a:ext cx="457200" cy="4572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4750" y="2945308"/>
            <a:ext cx="457200" cy="4572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900" y="3065264"/>
            <a:ext cx="457200" cy="45720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3050" y="3065264"/>
            <a:ext cx="457200" cy="45720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137" y="3189089"/>
            <a:ext cx="238125" cy="209550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38575" y="3069133"/>
            <a:ext cx="209550" cy="209550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62725" y="3189089"/>
            <a:ext cx="209550" cy="209550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301162" y="3189089"/>
            <a:ext cx="180975" cy="2095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2000" y="571500"/>
            <a:ext cx="11430000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2563EB"/>
                </a:solidFill>
                <a:latin typeface="Plus Jakarta Sans"/>
              </a:rPr>
              <a:t>ΔΟΜΗ ΠΡΟΦΙΛ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2000" y="819150"/>
            <a:ext cx="11430000" cy="4381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lus Jakarta Sans"/>
              </a:rPr>
              <a:t>Οι 4 Πυλώνες μιας Σωστής Persona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0600" y="3674864"/>
            <a:ext cx="267533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Προφίλ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0600" y="3998714"/>
            <a:ext cx="21336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64748B"/>
                </a:solidFill>
                <a:latin typeface="Plus Jakarta Sans"/>
              </a:rPr>
              <a:t>Όνομα, ηλικία, επάγγελμα και τρόπος ζωής.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4750" y="3554908"/>
            <a:ext cx="267533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Στόχοι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14750" y="3878758"/>
            <a:ext cx="2133600" cy="7197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64748B"/>
                </a:solidFill>
                <a:latin typeface="Plus Jakarta Sans"/>
              </a:rPr>
              <a:t>Επιθυμίες και αποτελέσματα που επιδιώκει.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38900" y="3674864"/>
            <a:ext cx="267533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Εμπόδια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38900" y="3998714"/>
            <a:ext cx="21336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64748B"/>
                </a:solidFill>
                <a:latin typeface="Plus Jakarta Sans"/>
              </a:rPr>
              <a:t>Φόβοι, έλλειψη χρόνου και δισταγμοί.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63050" y="3674864"/>
            <a:ext cx="2675334" cy="2476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Κανάλια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63050" y="3998714"/>
            <a:ext cx="2133600" cy="47982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89"/>
              </a:lnSpc>
            </a:pPr>
            <a:r>
              <a:rPr sz="1350" b="0" i="0" u="none">
                <a:solidFill>
                  <a:srgbClr val="64748B"/>
                </a:solidFill>
                <a:latin typeface="Plus Jakarta Sans"/>
              </a:rPr>
              <a:t>Αγαπημένα social media και πηγές ενημέρωσης.</a:t>
            </a:r>
          </a:p>
        </p:txBody>
      </p:sp>
    </p:spTree>
    <p:extLst>
      <p:ext uri="{BB962C8B-B14F-4D97-AF65-F5344CB8AC3E}">
        <p14:creationId xmlns:p14="http://schemas.microsoft.com/office/powerpoint/2010/main" val="41359418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035CF2-8840-193E-6B61-043C43D1E6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38202"/>
            <a:ext cx="12192000" cy="63815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93665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A2CB48-4929-A4F1-4F61-6E3A6AB214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51516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71500" y="857250"/>
            <a:ext cx="11049000" cy="771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71500" y="161925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71500" y="1619250"/>
            <a:ext cx="11049000" cy="9525"/>
          </a:xfrm>
          <a:prstGeom prst="rect">
            <a:avLst/>
          </a:prstGeom>
          <a:solidFill>
            <a:srgbClr val="7575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1000125"/>
            <a:ext cx="857250" cy="47625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1771650"/>
            <a:ext cx="857250" cy="476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1500" y="571500"/>
            <a:ext cx="2187773" cy="2857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800" b="1" i="0" u="none">
                <a:solidFill>
                  <a:srgbClr val="0F172A"/>
                </a:solidFill>
                <a:latin typeface="Plus Jakarta Sans"/>
              </a:rPr>
              <a:t>Image Sources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66875" y="1038225"/>
            <a:ext cx="7560468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F172A"/>
                </a:solidFill>
                <a:latin typeface="Plus Jakarta Sans"/>
              </a:rPr>
              <a:t>http://culturacreative.com/cdn/shop/files/1215bb6aedca848ca4492278ea6d6faf.jpg?v=1785532041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6875" y="1238250"/>
            <a:ext cx="257175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F172A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culturacreative.com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6875" y="1809750"/>
            <a:ext cx="4024312" cy="152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975" b="0" i="0" u="none">
                <a:solidFill>
                  <a:srgbClr val="0F172A"/>
                </a:solidFill>
                <a:latin typeface="Plus Jakarta Sans"/>
              </a:rPr>
              <a:t>https://i.ytimg.com/vi/a9HE-3rvi3I/maxresdefault.jpg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6875" y="2009775"/>
            <a:ext cx="2488406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0F172A"/>
                </a:solidFill>
                <a:latin typeface="Plus Jakarta Sans"/>
              </a:rPr>
              <a:t>Source: </a:t>
            </a:r>
            <a:r>
              <a:rPr sz="1200" b="0" i="0" u="none">
                <a:solidFill>
                  <a:srgbClr val="4F46E5"/>
                </a:solidFill>
                <a:latin typeface="Plus Jakarta Sans"/>
              </a:rPr>
              <a:t>www.youtube.com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625</Words>
  <Application>Microsoft Office PowerPoint</Application>
  <PresentationFormat>Widescreen</PresentationFormat>
  <Paragraphs>99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Plus Jakarta Sans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Michail Vlachos</cp:lastModifiedBy>
  <cp:revision>4</cp:revision>
  <dcterms:created xsi:type="dcterms:W3CDTF">2013-01-27T09:14:16Z</dcterms:created>
  <dcterms:modified xsi:type="dcterms:W3CDTF">2026-10-21T08:41:13Z</dcterms:modified>
  <cp:category/>
</cp:coreProperties>
</file>