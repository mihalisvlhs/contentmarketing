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embeddedFontLs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53" y="7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477574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2044154"/>
            <a:ext cx="1123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ΨΗΦΙΑΚΟ ΜΑΡΚΕΤΙΝΓΚ &amp; ΣΤΡΑΤΗΓΙΚΗ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396579"/>
            <a:ext cx="860107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lus Jakarta Sans"/>
              </a:rPr>
              <a:t>Marketing Funnel &amp; Buyer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808065"/>
            <a:ext cx="6572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Θεωρητικό πλαίσιο ανάλυσης κοινού, στάδια χωνιού πωλήσεων και ολοκληρωμένη εφαρμογή στην πράξη.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1962150"/>
            <a:ext cx="4594919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080" y="1962150"/>
            <a:ext cx="4594919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ΘΕΩΡΙΑ: ΤΟ ΚΟΙΝΟ ΜΑΣ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Τι είναι η Buyer Persona;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37792"/>
            <a:ext cx="73708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Ο Ιδανικός Πελάτης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61642"/>
            <a:ext cx="57111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Μια ημι-φανταστική αναπαράσταση του πελάτη βασισμένη σε πραγματικά δεδομένα και έρευνα αγοράς.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70064"/>
            <a:ext cx="73708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Γιατί είναι απαραίτητη;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93914"/>
            <a:ext cx="57111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Βοηθά στην κατανόηση των αναγκών, των φόβων και της καθημερινότητας του χρήστη πριν τη δημιουργία διαφημίσεων.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02335"/>
            <a:ext cx="73708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Πέρα από τα Δημογραφικά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26185"/>
            <a:ext cx="571113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Εστιάζει στα ψυχογραφικά χαρακτηριστικά: κίνητρα, ανασφάλειες και συνήθειες λήψης αποφάσεων.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60464"/>
            <a:ext cx="2495550" cy="2022871"/>
          </a:xfrm>
          <a:prstGeom prst="roundRect">
            <a:avLst>
              <a:gd name="adj" fmla="val 75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640508"/>
            <a:ext cx="2495550" cy="2262782"/>
          </a:xfrm>
          <a:prstGeom prst="roundRect">
            <a:avLst>
              <a:gd name="adj" fmla="val 67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60464"/>
            <a:ext cx="2495550" cy="2022871"/>
          </a:xfrm>
          <a:prstGeom prst="roundRect">
            <a:avLst>
              <a:gd name="adj" fmla="val 75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760464"/>
            <a:ext cx="2495550" cy="2022871"/>
          </a:xfrm>
          <a:prstGeom prst="roundRect">
            <a:avLst>
              <a:gd name="adj" fmla="val 75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6526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294530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065264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3065264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137" y="3189089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8575" y="3069133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189089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1162" y="3189089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ΔΟΜΗ ΠΡΟΦΙΛ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Οι 4 Πυλώνες μιας Σωστής 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674864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Προφίλ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3998714"/>
            <a:ext cx="21336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Όνομα, ηλικία, επάγγελμα και τρόπος ζωής.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0" y="3554908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Στόχοι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750" y="3878758"/>
            <a:ext cx="21336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Επιθυμίες και αποτελέσματα που επιδιώκει.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674864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Εμπόδια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998714"/>
            <a:ext cx="21336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Φόβοι, έλλειψη χρόνου και δισταγμοί.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3050" y="3674864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Κανάλια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3050" y="3998714"/>
            <a:ext cx="21336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Αγαπημένα social media και πηγές ενημέρωσης.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70014"/>
            <a:ext cx="2524125" cy="1603771"/>
          </a:xfrm>
          <a:prstGeom prst="roundRect">
            <a:avLst>
              <a:gd name="adj" fmla="val 950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2970014"/>
            <a:ext cx="2524125" cy="1603771"/>
          </a:xfrm>
          <a:prstGeom prst="roundRect">
            <a:avLst>
              <a:gd name="adj" fmla="val 9502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70014"/>
            <a:ext cx="2524125" cy="1603771"/>
          </a:xfrm>
          <a:prstGeom prst="roundRect">
            <a:avLst>
              <a:gd name="adj" fmla="val 9502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2970014"/>
            <a:ext cx="2524125" cy="1603771"/>
          </a:xfrm>
          <a:prstGeom prst="roundRect">
            <a:avLst>
              <a:gd name="adj" fmla="val 950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ΘΕΩΡΙΑ: ΤΟ ΤΑΞΙΔΙ ΤΟΥ ΠΕΛΑΤΗ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Η Διαδρομή του Marketing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36714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ΣΤΑΔΙΟ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484364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827264"/>
            <a:ext cx="2238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40AF"/>
                </a:solidFill>
                <a:latin typeface="Plus Jakarta Sans"/>
              </a:rPr>
              <a:t>Αναγνώριση προβλήματος από τον χρήστη.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236714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ΣΤΑΔΙΟ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484364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C1D95"/>
                </a:solidFill>
                <a:latin typeface="Plus Jakarta Sans"/>
              </a:rPr>
              <a:t>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827264"/>
            <a:ext cx="2238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5B21B6"/>
                </a:solidFill>
                <a:latin typeface="Plus Jakarta Sans"/>
              </a:rPr>
              <a:t>Αναζήτηση λύσεων και αξιολόγηση επιλογών.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3236714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ΣΤΑΔΙΟ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3484364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3827264"/>
            <a:ext cx="2238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065F46"/>
                </a:solidFill>
                <a:latin typeface="Plus Jakarta Sans"/>
              </a:rPr>
              <a:t>Σύγκριση και υπέρβαση των τελικών δισταγμών.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75" y="3236714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ΣΤΑΔΙΟ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6375" y="3484364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6375" y="3827264"/>
            <a:ext cx="22383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Ολοκλήρωση αγοράς και πρώτη χρήση.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45283"/>
            <a:ext cx="5162550" cy="2053232"/>
          </a:xfrm>
          <a:prstGeom prst="roundRect">
            <a:avLst>
              <a:gd name="adj" fmla="val 74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45283"/>
            <a:ext cx="5162550" cy="2053232"/>
          </a:xfrm>
          <a:prstGeom prst="roundRect">
            <a:avLst>
              <a:gd name="adj" fmla="val 74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107233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3107233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ΜΕΘΟΔΟΛΟΓΙΑ ΣΧΕΔΙΑΣΜΟΥ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Στρατηγική (Αριστερά) vs Ενέργειες (Δεξιά)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3088183"/>
            <a:ext cx="24003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Stages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507283"/>
            <a:ext cx="5595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Ψυχολογία: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Τι νιώθει ή τι φοβάται ο πελάτης.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861494"/>
            <a:ext cx="5595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Στόχος: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Τι θέλει να πετύχει η επιχείρηση.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215705"/>
            <a:ext cx="5595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Καθοδήγηση: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Μετάβαση στο επόμενο επίπεδο.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675" y="3088183"/>
            <a:ext cx="112014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3507283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Εργαλεία: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Social video, guides και landing pages.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3861494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Προσφορές: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Δωρεάν δοκιμές και demo παρουσιάσεις.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215705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Onboarding: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Απλοποίηση πληρωμής και έναρξης.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49834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5" y="2411759"/>
            <a:ext cx="3619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978" y="3049934"/>
            <a:ext cx="249789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ΕΦΑΡΜΟΓΗ ΣΤΗΝ ΠΡΑΞΗ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2171" y="3335684"/>
            <a:ext cx="9127507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Λυμένο Παράδειγμα για την Τάξη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4074765"/>
            <a:ext cx="73818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Εφαρμογή «FitHome»: Πλήρης ανάλυση Buyer Persona και Funnel για μια συνδρομητική εφαρμογή γυμναστικής στο σπίτι.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62150"/>
            <a:ext cx="4084290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62150"/>
            <a:ext cx="408429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ΛΥΜΕΝΟ ΠΑΡΑΔΕΙΓΜΑ: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«Ο Αγχωμένος Γιώργος» (22 ετών)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490" y="2396728"/>
            <a:ext cx="6888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Προφίλ &amp; Καθημερινότητα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490" y="2701528"/>
            <a:ext cx="6888509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Φοιτητής με απογευματινή εργασία και πολλές ώρες στον υπολογιστή.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490" y="3131939"/>
            <a:ext cx="6888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Στόχος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490" y="3436739"/>
            <a:ext cx="6888509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Βελτίωση αντοχής και ενέργειας με προπόνηση 20 λεπτών.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490" y="3867150"/>
            <a:ext cx="6888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Μεγαλύτερο Εμπόδιο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490" y="4171950"/>
            <a:ext cx="6888509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Έλλειψη χρόνου για μετακινήσεις και περιορισμένος προϋπολογισμός.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490" y="4602360"/>
            <a:ext cx="688850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Συχνές Πλατφόρμες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490" y="4907160"/>
            <a:ext cx="6888509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Instagram Reels, TikTok και YouTube Shorts.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77715"/>
            <a:ext cx="5162550" cy="2188368"/>
          </a:xfrm>
          <a:prstGeom prst="roundRect">
            <a:avLst>
              <a:gd name="adj" fmla="val 696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40521"/>
            <a:ext cx="5162550" cy="2062757"/>
          </a:xfrm>
          <a:prstGeom prst="roundRect">
            <a:avLst>
              <a:gd name="adj" fmla="val 73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ΣΤΑΔΙΟ 1: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Εφαρμογή FitHome: Προσέλκυση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020615"/>
            <a:ext cx="58757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Στρατηγική &amp; Πελάτης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449240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40AF"/>
                </a:solidFill>
                <a:latin typeface="Plus Jakarta Sans"/>
              </a:rPr>
              <a:t>Πελάτης:</a:t>
            </a:r>
            <a:r>
              <a:rPr sz="1350" b="0" i="0" u="none">
                <a:solidFill>
                  <a:srgbClr val="1E40AF"/>
                </a:solidFill>
                <a:latin typeface="Plus Jakarta Sans"/>
              </a:rPr>
              <a:t> Νιώθει κούραση και βαριέται τις μετακινήσεις στο γυμναστήριο.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043362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40AF"/>
                </a:solidFill>
                <a:latin typeface="Plus Jakarta Sans"/>
              </a:rPr>
              <a:t>Στόχος:</a:t>
            </a:r>
            <a:r>
              <a:rPr sz="1350" b="0" i="0" u="none">
                <a:solidFill>
                  <a:srgbClr val="1E40AF"/>
                </a:solidFill>
                <a:latin typeface="Plus Jakarta Sans"/>
              </a:rPr>
              <a:t> Να κατανοήσει ότι αρκούν 20 λεπτά άσκησης στο σαλόνι.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083421"/>
            <a:ext cx="55816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Ενέργειες Υλοποίησης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512046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TikTok/Reels: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Σύντομο χιουμοριστικό βίντεο σύγκρισης.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86625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Content: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Άρθρο για ασκήσεις χωρίς εξοπλισμό.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422046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Free PDF: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Οδηγός προγράμματος για αρχάριους.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77715"/>
            <a:ext cx="5162550" cy="2188368"/>
          </a:xfrm>
          <a:prstGeom prst="roundRect">
            <a:avLst>
              <a:gd name="adj" fmla="val 6964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40521"/>
            <a:ext cx="5162550" cy="2062757"/>
          </a:xfrm>
          <a:prstGeom prst="roundRect">
            <a:avLst>
              <a:gd name="adj" fmla="val 73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ΣΤΑΔΙΟ 2: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Εφαρμογή FitHome: Ενδιαφέρον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020615"/>
            <a:ext cx="58757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C1D95"/>
                </a:solidFill>
                <a:latin typeface="Plus Jakarta Sans"/>
              </a:rPr>
              <a:t>Στρατηγική &amp; Πελάτης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449240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5B21B6"/>
                </a:solidFill>
                <a:latin typeface="Plus Jakarta Sans"/>
              </a:rPr>
              <a:t>Πελάτης:</a:t>
            </a:r>
            <a:r>
              <a:rPr sz="1350" b="0" i="0" u="none">
                <a:solidFill>
                  <a:srgbClr val="5B21B6"/>
                </a:solidFill>
                <a:latin typeface="Plus Jakarta Sans"/>
              </a:rPr>
              <a:t> Ψάχνει εφαρμογές fitness στο Google Play και App 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043362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5B21B6"/>
                </a:solidFill>
                <a:latin typeface="Plus Jakarta Sans"/>
              </a:rPr>
              <a:t>Στόχος:</a:t>
            </a:r>
            <a:r>
              <a:rPr sz="1350" b="0" i="0" u="none">
                <a:solidFill>
                  <a:srgbClr val="5B21B6"/>
                </a:solidFill>
                <a:latin typeface="Plus Jakarta Sans"/>
              </a:rPr>
              <a:t> Να δοκιμάσει το app μας ως την πιο εύχρηστη επιλογή.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083421"/>
            <a:ext cx="55816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Ενέργειες Υλοποίησης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512046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Free Trial: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Δωρεάν δοκιμή 7 ημερών χωρίς κάρτα.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86625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Email Series: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Σειρά 3 μηνυμάτων με συμβουλές διατροφής.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422046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Quiz: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Διαδραστικό τεστ επιλογής προγράμματος.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97671"/>
            <a:ext cx="5162550" cy="1948457"/>
          </a:xfrm>
          <a:prstGeom prst="roundRect">
            <a:avLst>
              <a:gd name="adj" fmla="val 782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40521"/>
            <a:ext cx="5162550" cy="2062757"/>
          </a:xfrm>
          <a:prstGeom prst="roundRect">
            <a:avLst>
              <a:gd name="adj" fmla="val 73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ΣΤΑΔΙΟ 3: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Εφαρμογή FitHome: Απόφαση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40571"/>
            <a:ext cx="58757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Στρατηγική &amp; Πελάτης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569196"/>
            <a:ext cx="5595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65F46"/>
                </a:solidFill>
                <a:latin typeface="Plus Jakarta Sans"/>
              </a:rPr>
              <a:t>Πελάτης:</a:t>
            </a:r>
            <a:r>
              <a:rPr sz="1350" b="0" i="0" u="none">
                <a:solidFill>
                  <a:srgbClr val="065F46"/>
                </a:solidFill>
                <a:latin typeface="Plus Jakarta Sans"/>
              </a:rPr>
              <a:t> Του αρέσει η εμπειρία αλλά διστάζει για το κόστος.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923407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65F46"/>
                </a:solidFill>
                <a:latin typeface="Plus Jakarta Sans"/>
              </a:rPr>
              <a:t>Στόχος:</a:t>
            </a:r>
            <a:r>
              <a:rPr sz="1350" b="0" i="0" u="none">
                <a:solidFill>
                  <a:srgbClr val="065F46"/>
                </a:solidFill>
                <a:latin typeface="Plus Jakarta Sans"/>
              </a:rPr>
              <a:t> Εξάλειψη ρίσκου και απόδειξη αξίας της συνδρομής.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083421"/>
            <a:ext cx="55816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Ενέργειες Υλοποίησης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512046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Testimonials: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Βίντεο μαρτυριών από άλλους φοιτητές.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86625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Live Demo: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Ζωντανή προπόνηση γνωριμίας με γυμναστή.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4220467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Προσφορά: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Έκπτωση 40% στην ετήσια συνδρομή.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97671"/>
            <a:ext cx="5162550" cy="1948457"/>
          </a:xfrm>
          <a:prstGeom prst="roundRect">
            <a:avLst>
              <a:gd name="adj" fmla="val 78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620565"/>
            <a:ext cx="5162550" cy="2302668"/>
          </a:xfrm>
          <a:prstGeom prst="roundRect">
            <a:avLst>
              <a:gd name="adj" fmla="val 66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ΣΤΑΔΙΟ 4: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Εφαρμογή FitHome: Ενεργοποίηση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40571"/>
            <a:ext cx="58757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Στρατηγική &amp; Πελάτης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569196"/>
            <a:ext cx="559593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Πελάτης: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Πείστηκε και είναι έτοιμος να ξεκινήσει σήμερα.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923407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Στόχος: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Άμεση και ομαλή εκκίνηση της πρώτης προπόνησης.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2963465"/>
            <a:ext cx="55816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Ενέργειες Υλοποίησης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392090"/>
            <a:ext cx="4572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Easy Checkout: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Πληρωμή με ένα κλικ μέσω Apple/Google Pay.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3986212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Onboarding: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Άμεση ρύθμιση ημερήσιων ειδοποιήσεων.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4340423"/>
            <a:ext cx="55816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Quick Start: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Σύντομο ζέσταμα 3 λεπτών κατά την είσοδο.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35CF2-8840-193E-6B61-043C43D1E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202"/>
            <a:ext cx="12192000" cy="638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6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7560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http://culturacreative.com/cdn/shop/files/1215bb6aedca848ca4492278ea6d6faf.jpg?v=1785532041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571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culturacreative.com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4024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https://i.ytimg.com/vi/a9HE-3rvi3I/maxresdefault.jpg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488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www.youtube.com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625</Words>
  <Application>Microsoft Office PowerPoint</Application>
  <PresentationFormat>Widescreen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Michail Vlachos</cp:lastModifiedBy>
  <cp:revision>2</cp:revision>
  <dcterms:created xsi:type="dcterms:W3CDTF">2013-01-27T09:14:16Z</dcterms:created>
  <dcterms:modified xsi:type="dcterms:W3CDTF">2026-10-19T08:29:19Z</dcterms:modified>
  <cp:category/>
</cp:coreProperties>
</file>